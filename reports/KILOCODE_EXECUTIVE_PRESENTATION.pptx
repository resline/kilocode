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Kilocode</c:v>
                </c:pt>
              </c:strCache>
            </c:strRef>
          </c:tx>
          <c:spPr>
            <a:solidFill>
              <a:srgbClr val="E33737"/>
            </a:solidFill>
            <a:ln w="25400" cap="flat">
              <a:solidFill>
                <a:srgbClr val="E33737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E33737"/>
              </a:solidFill>
              <a:ln w="9525" cap="flat">
                <a:solidFill>
                  <a:srgbClr val="E337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Bezpieczeństwo</c:v>
                  </c:pt>
                  <c:pt idx="1">
                    <c:v>RODO/NIS2</c:v>
                  </c:pt>
                  <c:pt idx="2">
                    <c:v>Compliance telco</c:v>
                  </c:pt>
                  <c:pt idx="3">
                    <c:v>Ryzyko biz.</c:v>
                  </c:pt>
                  <c:pt idx="4">
                    <c:v>TCO/ROI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5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Koszty</c:v>
                </c:pt>
              </c:strCache>
            </c:strRef>
          </c:tx>
          <c:spPr>
            <a:solidFill>
              <a:srgbClr val="E337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Setup</c:v>
                  </c:pt>
                  <c:pt idx="1">
                    <c:v>LLM API (3y)</c:v>
                  </c:pt>
                  <c:pt idx="2">
                    <c:v>Infrastruktura (3y)</c:v>
                  </c:pt>
                  <c:pt idx="3">
                    <c:v>Wsparcie (3y)</c:v>
                  </c:pt>
                  <c:pt idx="4">
                    <c:v>TOTAL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180</c:v>
                </c:pt>
                <c:pt idx="2">
                  <c:v>72</c:v>
                </c:pt>
                <c:pt idx="3">
                  <c:v>90</c:v>
                </c:pt>
                <c:pt idx="4">
                  <c:v>387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Korzyści</c:v>
                </c:pt>
              </c:strCache>
            </c:strRef>
          </c:tx>
          <c:spPr>
            <a:solidFill>
              <a:srgbClr val="29292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Setup</c:v>
                  </c:pt>
                  <c:pt idx="1">
                    <c:v>LLM API (3y)</c:v>
                  </c:pt>
                  <c:pt idx="2">
                    <c:v>Infrastruktura (3y)</c:v>
                  </c:pt>
                  <c:pt idx="3">
                    <c:v>Wsparcie (3y)</c:v>
                  </c:pt>
                  <c:pt idx="4">
                    <c:v>TOTAL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Kategoria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Wartość (€k)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Kilocode</c:v>
                </c:pt>
              </c:strCache>
            </c:strRef>
          </c:tx>
          <c:spPr>
            <a:solidFill>
              <a:srgbClr val="E33737"/>
            </a:solidFill>
            <a:ln w="25400" cap="flat">
              <a:solidFill>
                <a:srgbClr val="E33737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E33737"/>
              </a:solidFill>
              <a:ln w="9525" cap="flat">
                <a:solidFill>
                  <a:srgbClr val="E337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Bezpiecz.</c:v>
                  </c:pt>
                  <c:pt idx="1">
                    <c:v>Compliance</c:v>
                  </c:pt>
                  <c:pt idx="2">
                    <c:v>Funkcj. AI</c:v>
                  </c:pt>
                  <c:pt idx="3">
                    <c:v>Custom.</c:v>
                  </c:pt>
                  <c:pt idx="4">
                    <c:v>TCO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6</c:v>
                </c:pt>
                <c:pt idx="2">
                  <c:v>9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Copilot</c:v>
                </c:pt>
              </c:strCache>
            </c:strRef>
          </c:tx>
          <c:spPr>
            <a:solidFill>
              <a:srgbClr val="292929"/>
            </a:solidFill>
            <a:ln w="25400" cap="flat">
              <a:solidFill>
                <a:srgbClr val="292929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292929"/>
              </a:solidFill>
              <a:ln w="9525" cap="flat">
                <a:solidFill>
                  <a:srgbClr val="29292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Bezpiecz.</c:v>
                  </c:pt>
                  <c:pt idx="1">
                    <c:v>Compliance</c:v>
                  </c:pt>
                  <c:pt idx="2">
                    <c:v>Funkcj. AI</c:v>
                  </c:pt>
                  <c:pt idx="3">
                    <c:v>Custom.</c:v>
                  </c:pt>
                  <c:pt idx="4">
                    <c:v>TCO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</c:v>
                </c:pt>
                <c:pt idx="1">
                  <c:v>9</c:v>
                </c:pt>
                <c:pt idx="2">
                  <c:v>8</c:v>
                </c:pt>
                <c:pt idx="3">
                  <c:v>4</c:v>
                </c:pt>
                <c:pt idx="4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CodeWhisperer</c:v>
                </c:pt>
              </c:strCache>
            </c:strRef>
          </c:tx>
          <c:spPr>
            <a:solidFill>
              <a:srgbClr val="CCCBCB"/>
            </a:solidFill>
            <a:ln w="25400" cap="flat">
              <a:solidFill>
                <a:srgbClr val="CCCBCB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CCCBCB"/>
              </a:solidFill>
              <a:ln w="9525" cap="flat">
                <a:solidFill>
                  <a:srgbClr val="CCCBC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Bezpiecz.</c:v>
                  </c:pt>
                  <c:pt idx="1">
                    <c:v>Compliance</c:v>
                  </c:pt>
                  <c:pt idx="2">
                    <c:v>Funkcj. AI</c:v>
                  </c:pt>
                  <c:pt idx="3">
                    <c:v>Custom.</c:v>
                  </c:pt>
                  <c:pt idx="4">
                    <c:v>TCO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5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68412"/>
            <a:ext cx="77724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KILOCODE AI CODE ASSISTANT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682247" y="2398663"/>
            <a:ext cx="5779356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8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Bezpieczeństwa i Prawna</a:t>
            </a:r>
            <a:endParaRPr lang="en-US" sz="2800" dirty="0"/>
          </a:p>
          <a:p>
            <a:pPr algn="ctr" indent="0" marL="0">
              <a:spcAft>
                <a:spcPts val="4000"/>
              </a:spcAft>
              <a:buNone/>
            </a:pPr>
            <a:r>
              <a:rPr lang="en-US" sz="28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 Operatora Telekomunikacyjnego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399158" y="3979664"/>
            <a:ext cx="234553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20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Raport dla Zarządu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-91440" y="4375249"/>
            <a:ext cx="93268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listopada 2025 • POUFNE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5489"/>
            <a:ext cx="91440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62000" y="1638002"/>
            <a:ext cx="7620000" cy="211380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5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Rekomendacja</a:t>
            </a:r>
            <a:endParaRPr lang="en-US" sz="1900" dirty="0"/>
          </a:p>
          <a:p>
            <a:pPr algn="l" marL="190500" indent="-190500">
              <a:lnSpc>
                <a:spcPts val="285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Ryzyk Krytycznych</a:t>
            </a:r>
            <a:endParaRPr lang="en-US" sz="1900" dirty="0"/>
          </a:p>
          <a:p>
            <a:pPr algn="l" marL="190500" indent="-190500">
              <a:lnSpc>
                <a:spcPts val="285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Matryca Decyzyjna</a:t>
            </a:r>
            <a:endParaRPr lang="en-US" sz="1900" dirty="0"/>
          </a:p>
          <a:p>
            <a:pPr algn="l" marL="190500" indent="-190500">
              <a:lnSpc>
                <a:spcPts val="285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Scenariusze Wdrożeniowe &amp; ROI</a:t>
            </a:r>
            <a:endParaRPr lang="en-US" sz="1900" dirty="0"/>
          </a:p>
          <a:p>
            <a:pPr algn="l" marL="190500" indent="-190500">
              <a:lnSpc>
                <a:spcPts val="2850"/>
              </a:lnSpc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Porównanie Alternatyw &amp; Next Steps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905155" y="4629150"/>
            <a:ext cx="8750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• POUFNE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5489"/>
            <a:ext cx="91440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34901" y="1396752"/>
            <a:ext cx="80316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 Wnioski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4901" y="1806327"/>
            <a:ext cx="7874198" cy="22479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Architektura: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Open-source VS Code extension (~11k linii TypeScript) z Model Context Protocol (MCP)</a:t>
            </a:r>
            <a:endParaRPr lang="en-US" sz="1400" dirty="0"/>
          </a:p>
          <a:p>
            <a:pPr algn="l" marL="190500" indent="-1905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Dane: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Kod transmitowany do LLM providers (Anthropic, OpenAI) bez lokalnej kontroli</a:t>
            </a:r>
            <a:endParaRPr lang="en-US" sz="1400" dirty="0"/>
          </a:p>
          <a:p>
            <a:pPr algn="l" marL="190500" indent="-1905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Klucze API: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Plaintext w ~/.kilocode/settings.json bez szyfrowania</a:t>
            </a:r>
            <a:endParaRPr lang="en-US" sz="1400" dirty="0"/>
          </a:p>
          <a:p>
            <a:pPr algn="l" marL="190500" indent="-1905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Servers: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Wykonywanie dowolnych poleceń systemowych przez zewnętrzne procesy</a:t>
            </a:r>
            <a:endParaRPr lang="en-US" sz="1400" dirty="0"/>
          </a:p>
          <a:p>
            <a:pPr algn="l" marL="190500" indent="-1905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Vendor: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Małe startup bez SLA, certyfikacji, wsparcia enterprise</a:t>
            </a:r>
            <a:endParaRPr lang="en-US" sz="1400" dirty="0"/>
          </a:p>
          <a:p>
            <a:pPr algn="l" marL="190500" indent="-190500">
              <a:lnSpc>
                <a:spcPts val="21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</a:t>
            </a:r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+€183k w 3 lata, ale wymaga €387k TCO na zabezpieczenia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05155" y="4629150"/>
            <a:ext cx="8750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• POUFNE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7018" y="-210889"/>
            <a:ext cx="5909816" cy="2758976"/>
          </a:xfrm>
          <a:prstGeom prst="roundRect">
            <a:avLst>
              <a:gd name="adj" fmla="val 5524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76029" y="106561"/>
            <a:ext cx="499179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spcAft>
                <a:spcPts val="1200"/>
              </a:spcAft>
              <a:buNone/>
            </a:pPr>
            <a:r>
              <a:rPr lang="en-US" sz="60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076029" y="1401961"/>
            <a:ext cx="499179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GO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39193" y="2801987"/>
            <a:ext cx="5865465" cy="1917650"/>
          </a:xfrm>
          <a:prstGeom prst="roundRect">
            <a:avLst>
              <a:gd name="adj" fmla="val 52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33827" y="3030587"/>
            <a:ext cx="5076197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Wdrożenie </a:t>
            </a:r>
            <a:pPr algn="ctr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WYŁĄCZNIE w środowiskach dev/test</a:t>
            </a:r>
            <a:pPr algn="ctr" indent="0" marL="0">
              <a:lnSpc>
                <a:spcPts val="2550"/>
              </a:lnSpc>
              <a:buNone/>
            </a:pPr>
            <a:endParaRPr lang="en-US" sz="1700" dirty="0"/>
          </a:p>
          <a:p>
            <a:pPr algn="ctr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spełnieniu obowiązkowych zabezpieczeń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033827" y="3805237"/>
            <a:ext cx="50761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REKOMENDOWANE dla produkcji</a:t>
            </a:r>
            <a:endParaRPr lang="en-US" sz="1800" dirty="0"/>
          </a:p>
          <a:p>
            <a:pPr algn="ctr" indent="0" marL="0">
              <a:lnSpc>
                <a:spcPts val="2700"/>
              </a:lnSpc>
              <a:spcBef>
                <a:spcPts val="1000"/>
              </a:spcBef>
              <a:buNone/>
            </a:pPr>
            <a:r>
              <a:rPr lang="en-US" sz="1800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znaczących modyfikacji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96576" y="4724400"/>
            <a:ext cx="87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• POUFNE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5489"/>
            <a:ext cx="91440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RYZYK KRYTYCZNYCH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905155" y="4629150"/>
            <a:ext cx="8750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• POUFNE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523702"/>
          <a:ext cx="8166050" cy="298445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1188720"/>
                <a:gridCol w="1828800"/>
                <a:gridCol w="1737360"/>
              </a:tblGrid>
              <a:tr h="4974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Ryzyko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Impact Finansowy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Mitigation Cost (3y)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4974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Exfiltration do LLM Providers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🔴 CRITICAL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€20M (kary RODO)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€180k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MCP Server Code Execution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🔴 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€5M-10M (incident)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€72k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Brak Certyfikacji RODO/NIS2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🔴 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€30M (RODO+NIS2)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€15k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Vendor Discontinuity Risk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🟠 MEDIUM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€140k (stracone inv.)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€90k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74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Brak SLA i Enterprise Support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🟠 MEDIUM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€90k (przestoje)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€90k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5489"/>
            <a:ext cx="91440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MATRYCA DECYZYJNA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905155" y="4629150"/>
            <a:ext cx="8750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• POUFNE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333202"/>
          <a:ext cx="4864001" cy="317495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731520"/>
                <a:gridCol w="731520"/>
              </a:tblGrid>
              <a:tr h="4535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Kryterium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Waga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Ocena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Wynik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4535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Bezpieczeństwo techniczne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4/10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5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Zgodność RODO/NIS2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3/10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5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Compliance telco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2/10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5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Ryzyko biznesowe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5/10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5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TCO / ROI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7/10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5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OGÓLNA OCENA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37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37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37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3.8/10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373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5752951" y="1333202"/>
          <a:ext cx="3086100" cy="3174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74713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58293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1000"/>
              </a:spcAft>
              <a:buNone/>
            </a:pPr>
            <a:r>
              <a:rPr lang="en-US" sz="3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69950" y="432495"/>
            <a:ext cx="639416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#1: Data Exfiltration do LLM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1376214"/>
            <a:ext cx="8031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źródłowy transmitowany do LLM providers (Anthropic, OpenAI) w USA bez lokalnej kontroli.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16435"/>
            <a:ext cx="7874198" cy="120104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73001" y="1716435"/>
            <a:ext cx="0" cy="1201043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251" y="1843385"/>
            <a:ext cx="75395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251" y="2262485"/>
            <a:ext cx="7391698" cy="47729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Finansowy: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Kary RODO do €20M (4% obrotu)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Prawny: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Naruszenie RODO Art. 44-50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2993678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(€180k/3y)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4901" y="3412778"/>
            <a:ext cx="7874198" cy="47729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LiteLLM + DLP gateway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Izolacja sieciowa (VLAN dev/test)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05155" y="4612779"/>
            <a:ext cx="8750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• POUFNE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74713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58293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1000"/>
              </a:spcAft>
              <a:buNone/>
            </a:pPr>
            <a:r>
              <a:rPr lang="en-US" sz="3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69950" y="432495"/>
            <a:ext cx="586406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#2: MCP Code Execution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1376214"/>
            <a:ext cx="8031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 wykonują dowolne polecenia systemowe bez sandboxing - ryzyko arbitrary code execution.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16435"/>
            <a:ext cx="7874198" cy="1201043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73001" y="1716435"/>
            <a:ext cx="0" cy="1201043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251" y="1843385"/>
            <a:ext cx="75395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251" y="2262485"/>
            <a:ext cx="7391698" cy="47729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Finansowy: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€5M-10M (incident response)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Techniczny: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Kompromitacja systemu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2993678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(€72k/3y)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4901" y="3412778"/>
            <a:ext cx="7874198" cy="47729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sandboxing z ograniczonymi uprawnieniami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monitoring &amp; anomaly detection (SIEM integration)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05155" y="4612779"/>
            <a:ext cx="8750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• POUFNE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74713"/>
          </a:xfrm>
          <a:prstGeom prst="rect">
            <a:avLst/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58293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1000"/>
              </a:spcAft>
              <a:buNone/>
            </a:pPr>
            <a:r>
              <a:rPr lang="en-US" sz="3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69950" y="432495"/>
            <a:ext cx="605275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#3: Brak Cert. RODO/NIS2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1376214"/>
            <a:ext cx="8031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certyfikacji ISO 27001, SOC 2, DPA z LLM providers. Brak SCC dla transferu poza EU.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16435"/>
            <a:ext cx="7874198" cy="1465064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73001" y="1716435"/>
            <a:ext cx="0" cy="1465064"/>
          </a:xfrm>
          <a:prstGeom prst="line">
            <a:avLst/>
          </a:prstGeom>
          <a:noFill/>
          <a:ln w="76200">
            <a:solidFill>
              <a:srgbClr val="E337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251" y="1843385"/>
            <a:ext cx="75395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251" y="2262485"/>
            <a:ext cx="7391698" cy="74131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Finansowy: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Kary RODO €20M + kary NIS2 €10M (Art. 34)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Prawny: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Zakaz przetwarzania danych, audyty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Reputacyjny: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Utrata licencji operatora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257699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(€15k)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4901" y="3676799"/>
            <a:ext cx="7874198" cy="74131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Ograniczenie do środowisk dev/test bez danych klientów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opinion na zgodność z RODO/NIS2 dla dev/test use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Wymagana cert. ISO 27001 przed produkcją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05155" y="4612779"/>
            <a:ext cx="8750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• POUFNE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74713"/>
          </a:xfrm>
          <a:prstGeom prst="rect">
            <a:avLst/>
          </a:prstGeom>
          <a:solidFill>
            <a:srgbClr val="CCCBC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58293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1000"/>
              </a:spcAft>
              <a:buNone/>
            </a:pPr>
            <a:r>
              <a:rPr lang="en-US" sz="3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69950" y="432495"/>
            <a:ext cx="585040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#4: Vendor Discontinuity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1376214"/>
            <a:ext cx="8031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Małe startup bez SLA, certyfikacji, wsparcia enterprise. Ryzyko porzucenia projektu.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16435"/>
            <a:ext cx="7874198" cy="1465064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73001" y="1716435"/>
            <a:ext cx="0" cy="1465064"/>
          </a:xfrm>
          <a:prstGeom prst="line">
            <a:avLst/>
          </a:prstGeom>
          <a:noFill/>
          <a:ln w="76200">
            <a:solidFill>
              <a:srgbClr val="CCCB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251" y="1843385"/>
            <a:ext cx="75395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251" y="2262485"/>
            <a:ext cx="7391698" cy="74131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Finansowy: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€90k stracone inwestycje + €50k migracja do alternatywy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Operacyjny: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Brak updates, compatibility issues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Produktywność: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Przestój 2-3 miesiące podczas migracji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257699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(€90k/3y)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4901" y="3676799"/>
            <a:ext cx="7874198" cy="47729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projektu do internal repository z pełną kontrolą kodu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L3 support team (1 FTE) dla maintenance i security patches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20323" y="4612779"/>
            <a:ext cx="96153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• POUFNE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26952"/>
          </a:xfrm>
          <a:prstGeom prst="rect">
            <a:avLst/>
          </a:prstGeom>
          <a:solidFill>
            <a:srgbClr val="CCCBC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79946"/>
            <a:ext cx="58293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spcAft>
                <a:spcPts val="1000"/>
              </a:spcAft>
              <a:buNone/>
            </a:pPr>
            <a:r>
              <a:rPr lang="en-US" sz="36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69950" y="253901"/>
            <a:ext cx="751342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 #5: Brak SLA RYZYKO #5: Brak SLA i Enterprise Support Support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1428452"/>
            <a:ext cx="803168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SLA, 24/7 support, incident response. Wsparcie tylko community.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768673"/>
            <a:ext cx="7874198" cy="1465064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73001" y="1768673"/>
            <a:ext cx="0" cy="1465064"/>
          </a:xfrm>
          <a:prstGeom prst="line">
            <a:avLst/>
          </a:prstGeom>
          <a:noFill/>
          <a:ln w="76200">
            <a:solidFill>
              <a:srgbClr val="CCCB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251" y="1895624"/>
            <a:ext cx="75395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251" y="2314724"/>
            <a:ext cx="7391698" cy="741313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Finansowy: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€30k/rok utracona produktywność podczas przestojów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Operacyjny: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Brak gwarancji uptime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</a:t>
            </a:r>
            <a:pPr algn="l" indent="0" marL="0">
              <a:lnSpc>
                <a:spcPts val="168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Brak vendor audit trail wymaganych przez NIS2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4901" y="3309938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(€90k/3y)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4901" y="3729038"/>
            <a:ext cx="7874198" cy="47729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L3 support team (1 FTE) jako first-line support</a:t>
            </a:r>
            <a:endParaRPr lang="en-US" sz="1200" dirty="0"/>
          </a:p>
          <a:p>
            <a:pPr algn="l" marL="190500" indent="-190500">
              <a:lnSpc>
                <a:spcPts val="168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monitoring &amp; proactive bug patching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1634" y="4612779"/>
            <a:ext cx="94999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• POUFNE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5489"/>
            <a:ext cx="91440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SCENARIUSZE WDROŻENIOWE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820323" y="4629150"/>
            <a:ext cx="96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• POUFNE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460153"/>
          <a:ext cx="8166050" cy="306065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097280"/>
                <a:gridCol w="1280160"/>
                <a:gridCol w="1280160"/>
              </a:tblGrid>
              <a:tr h="6121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Scenariusz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Koszt (3y)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Timeline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Ryzyko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6121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A: Full Deployment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€195k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🔴 HIGH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❌ NIE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1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B: Hardened Fork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€387k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18m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🟡 MEDIUM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✅ TAK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1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C: Limited Pilot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€16k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🟢 LOW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⚠️ PoC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1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D: GitHub Copilot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€113k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1m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🟢 LOW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</a:rPr>
                        <a:t>✅ TAK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5489"/>
            <a:ext cx="91440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&amp; ROI (3 LATA)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26669" y="1333202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Scenariusz B (Rekomendowany): Security-Hardened Fork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820323" y="4629150"/>
            <a:ext cx="96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• POUFNE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7950" y="1818977"/>
          <a:ext cx="8166050" cy="26923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5489"/>
            <a:ext cx="91440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IMPLEMENTACJI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34901" y="1269802"/>
            <a:ext cx="7874198" cy="767953"/>
          </a:xfrm>
          <a:prstGeom prst="roundRect">
            <a:avLst>
              <a:gd name="adj" fmla="val 6615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7301" y="1544241"/>
            <a:ext cx="265612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0: Limited Pilot (0-6m)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61263" y="1549003"/>
            <a:ext cx="40334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€16k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4901" y="2101155"/>
            <a:ext cx="7874198" cy="21327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dev w izolacji + walidacja biznesowa (15% wzrost)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2415927"/>
            <a:ext cx="7874198" cy="767953"/>
          </a:xfrm>
          <a:prstGeom prst="roundRect">
            <a:avLst>
              <a:gd name="adj" fmla="val 6615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7301" y="2690366"/>
            <a:ext cx="236511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Security (6-12m)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2441" y="2695129"/>
            <a:ext cx="5041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€108k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4901" y="3247281"/>
            <a:ext cx="7874198" cy="21327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68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+ Vault + MCP whitelist + pentest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3562052"/>
            <a:ext cx="7874198" cy="767953"/>
          </a:xfrm>
          <a:prstGeom prst="roundRect">
            <a:avLst>
              <a:gd name="adj" fmla="val 6615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7301" y="3836491"/>
            <a:ext cx="410889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Infrastructure + Maintenance (Y2-3)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2441" y="3841254"/>
            <a:ext cx="5041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€263k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20323" y="4629150"/>
            <a:ext cx="96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• POUFNE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5489"/>
            <a:ext cx="91440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PORÓWNANIE ALTERNATYW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820323" y="4629150"/>
            <a:ext cx="96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• POUFNE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333202"/>
          <a:ext cx="3848100" cy="317495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1097280"/>
              </a:tblGrid>
              <a:tr h="352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Kryterium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Kilocode Fork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GitHub Copilot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CodeWhisperer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929"/>
                    </a:solidFill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Koszt (3y)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€387k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€113k 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€90k 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Bezpieczeństwo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7/10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9/10 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9/10 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RODO/NIS2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6/10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9/10 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8/10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Wsparcie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Internal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24/7 SLA 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AWS Support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Funkcjonalność AI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9/10 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8/10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7/10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Customizacja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10/10 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4/10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5/10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Vendor Lock-in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 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7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Deploy Time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4-6m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2w 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1w 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4762500" y="1333202"/>
          <a:ext cx="3848100" cy="3174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79302"/>
          </a:xfrm>
          <a:prstGeom prst="rect">
            <a:avLst/>
          </a:prstGeom>
          <a:solidFill>
            <a:srgbClr val="29292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55489"/>
            <a:ext cx="9144000" cy="0"/>
          </a:xfrm>
          <a:prstGeom prst="line">
            <a:avLst/>
          </a:prstGeom>
          <a:noFill/>
          <a:ln w="47625">
            <a:solidFill>
              <a:srgbClr val="E337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 REKOMENDACJE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34901" y="1307902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4685" y="1415802"/>
            <a:ext cx="865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9802" y="1307902"/>
            <a:ext cx="73840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Limited Pilot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69802" y="1622227"/>
            <a:ext cx="7384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Pilotaż 10 dev, €16k, 6m. Go/no-go z danymi.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01" y="1927027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4685" y="2034927"/>
            <a:ext cx="865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69802" y="1927027"/>
            <a:ext cx="73840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Successful → Hardened Fork (Dev/Test Only)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9802" y="2241352"/>
            <a:ext cx="7384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Jeśli &gt;15% wzrost → Fork dla 50 dev. NIE prod bez ISO 27001.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4901" y="2546152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4685" y="2654052"/>
            <a:ext cx="865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9802" y="2546152"/>
            <a:ext cx="73840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GitHub Copilot for Production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9802" y="2860477"/>
            <a:ext cx="7384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(€113k/3y) dla produkcji - compliance ready.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4901" y="3165277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4685" y="3273177"/>
            <a:ext cx="865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69802" y="3165277"/>
            <a:ext cx="73840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AI Governance Committee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69802" y="3479602"/>
            <a:ext cx="7384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+ Legal + Eng. MCP approval, RODO/NIS2 audits.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901" y="3784402"/>
            <a:ext cx="444401" cy="444401"/>
          </a:xfrm>
          <a:prstGeom prst="roundRect">
            <a:avLst>
              <a:gd name="adj" fmla="val 205760"/>
            </a:avLst>
          </a:prstGeom>
          <a:solidFill>
            <a:srgbClr val="E337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14685" y="3892302"/>
            <a:ext cx="865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69802" y="3784402"/>
            <a:ext cx="73840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 &amp; Improvement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69802" y="4098727"/>
            <a:ext cx="73840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monitoring + quarterly review.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820323" y="4724400"/>
            <a:ext cx="9615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• POUFNE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92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8922" y="369987"/>
            <a:ext cx="338615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4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62149" y="1497062"/>
            <a:ext cx="7619702" cy="3276302"/>
          </a:xfrm>
          <a:prstGeom prst="roundRect">
            <a:avLst>
              <a:gd name="adj" fmla="val 46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397050" y="1814513"/>
            <a:ext cx="647689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E337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(7 dni)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97050" y="2328863"/>
            <a:ext cx="6349901" cy="10096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Decision:</a:t>
            </a:r>
            <a:pPr algn="l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GO/NO-GO vote dla Limited Pilot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GO:</a:t>
            </a:r>
            <a:pPr algn="l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Assign budget €16k pilotaż</a:t>
            </a:r>
            <a:endParaRPr lang="en-US" sz="1500" dirty="0"/>
          </a:p>
          <a:p>
            <a:pPr algn="l" marL="190500" indent="-190500">
              <a:lnSpc>
                <a:spcPts val="225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GO:</a:t>
            </a:r>
            <a:pPr algn="l" indent="0" marL="0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 AI Governance Committee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97050" y="3665488"/>
            <a:ext cx="6349901" cy="0"/>
          </a:xfrm>
          <a:prstGeom prst="line">
            <a:avLst/>
          </a:prstGeom>
          <a:noFill/>
          <a:ln w="19050">
            <a:solidFill>
              <a:srgbClr val="CCCB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7050" y="3928914"/>
            <a:ext cx="6476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</a:t>
            </a:r>
            <a:pPr algn="l" indent="0" marL="0">
              <a:buNone/>
            </a:pPr>
            <a:r>
              <a:rPr lang="en-US" sz="1400" dirty="0">
                <a:solidFill>
                  <a:srgbClr val="292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CISO • DPO • Legal • Procurement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20323" y="4781550"/>
            <a:ext cx="96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C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• POUFNE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Kilocode Executive Presentation</dc:title>
  <dc:subject>Security and Legal Analysis for Telecom Operator</dc:subject>
  <dc:creator>Security &amp; Legal Team</dc:creator>
  <cp:lastModifiedBy>Security &amp; Legal Team</cp:lastModifiedBy>
  <cp:revision>1</cp:revision>
  <dcterms:created xsi:type="dcterms:W3CDTF">2025-11-04T11:06:38Z</dcterms:created>
  <dcterms:modified xsi:type="dcterms:W3CDTF">2025-11-04T11:06:38Z</dcterms:modified>
</cp:coreProperties>
</file>